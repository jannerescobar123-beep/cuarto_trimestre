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4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17" name="Google Shape;17;p3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1400"/>
              <a:buFont typeface="Calibri"/>
              <a:buNone/>
            </a:pPr>
            <a:r>
              <a:rPr lang="es-CO" sz="1400" b="0" i="0" u="none" strike="noStrike" cap="none" noProof="0" dirty="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RESPUESTA A LA ACTIVIDAD</a:t>
            </a:r>
            <a:endParaRPr lang="es-CO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1828800"/>
            <a:ext cx="8321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CO" sz="40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Selección de </a:t>
            </a:r>
            <a:r>
              <a:rPr lang="es-CO" sz="4000" b="1" i="0" u="none" strike="noStrike" cap="none" noProof="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Tecnologias</a:t>
            </a:r>
            <a:endParaRPr lang="es-CO" sz="4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CO" sz="40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Proyecto</a:t>
            </a:r>
            <a:endParaRPr lang="es-CO" sz="4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32004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s-CO" sz="1800" b="0" i="0" u="none" strike="noStrike" cap="none" noProof="0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Plataforma de Banca Digital</a:t>
            </a: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411480" y="3154680"/>
            <a:ext cx="3657600" cy="0"/>
          </a:xfrm>
          <a:prstGeom prst="straightConnector1">
            <a:avLst/>
          </a:prstGeom>
          <a:noFill/>
          <a:ln w="1905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8;p3">
            <a:extLst>
              <a:ext uri="{FF2B5EF4-FFF2-40B4-BE49-F238E27FC236}">
                <a16:creationId xmlns:a16="http://schemas.microsoft.com/office/drawing/2014/main" id="{CA31FB82-6376-6B7A-4548-0BED87297538}"/>
              </a:ext>
            </a:extLst>
          </p:cNvPr>
          <p:cNvSpPr/>
          <p:nvPr/>
        </p:nvSpPr>
        <p:spPr>
          <a:xfrm>
            <a:off x="518636" y="3703319"/>
            <a:ext cx="3550444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CO" sz="20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Nombres de los participantes</a:t>
            </a:r>
            <a:br>
              <a:rPr lang="es-CO" sz="20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O" sz="2000" b="0" i="0" u="none" strike="noStrike" cap="none" noProof="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Janner</a:t>
            </a:r>
            <a:r>
              <a:rPr lang="es-CO" sz="20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Andrey Carvajal Escobar</a:t>
            </a:r>
            <a:br>
              <a:rPr lang="es-CO" sz="20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O" sz="20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Julián Camilo Mosquera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27" name="Google Shape;27;p4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s-CO" sz="26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s-CO" sz="2600" b="1" i="0" u="none" strike="noStrike" cap="none" noProof="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Seleccion</a:t>
            </a:r>
            <a:r>
              <a:rPr lang="es-CO" sz="26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s-CO" sz="2600" b="1" i="0" u="none" strike="noStrike" cap="none" noProof="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Tecnologias</a:t>
            </a:r>
            <a:endParaRPr lang="es-CO" sz="2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1188720"/>
            <a:ext cx="2651760" cy="329184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29" name="Google Shape;29;p4"/>
          <p:cNvSpPr/>
          <p:nvPr/>
        </p:nvSpPr>
        <p:spPr>
          <a:xfrm>
            <a:off x="365760" y="1188720"/>
            <a:ext cx="2651760" cy="201168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0" name="Google Shape;30;p4"/>
          <p:cNvSpPr/>
          <p:nvPr/>
        </p:nvSpPr>
        <p:spPr>
          <a:xfrm>
            <a:off x="365760" y="14173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s-CO" sz="1100" b="1" i="0" u="none" strike="noStrike" cap="none" noProof="0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lang="es-CO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201168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lang="es-CO" sz="28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Angular</a:t>
            </a:r>
            <a:endParaRPr lang="es-CO" sz="2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291840" y="1188720"/>
            <a:ext cx="2651760" cy="329184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3" name="Google Shape;33;p4"/>
          <p:cNvSpPr/>
          <p:nvPr/>
        </p:nvSpPr>
        <p:spPr>
          <a:xfrm>
            <a:off x="3291840" y="1188720"/>
            <a:ext cx="2651760" cy="201168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4" name="Google Shape;34;p4"/>
          <p:cNvSpPr/>
          <p:nvPr/>
        </p:nvSpPr>
        <p:spPr>
          <a:xfrm>
            <a:off x="3291840" y="14173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s-CO" sz="1100" b="1" i="0" u="none" strike="noStrike" cap="none" noProof="0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lang="es-CO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91840" y="201168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lang="es-CO" sz="28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Spring </a:t>
            </a:r>
            <a:r>
              <a:rPr lang="es-CO" sz="2800" b="1" i="0" u="none" strike="noStrike" cap="none" noProof="0" dirty="0" err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Boot</a:t>
            </a:r>
            <a:endParaRPr lang="es-CO" sz="2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217920" y="1188720"/>
            <a:ext cx="2651760" cy="329184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7" name="Google Shape;37;p4"/>
          <p:cNvSpPr/>
          <p:nvPr/>
        </p:nvSpPr>
        <p:spPr>
          <a:xfrm>
            <a:off x="6217920" y="1188720"/>
            <a:ext cx="2651760" cy="201168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38" name="Google Shape;38;p4"/>
          <p:cNvSpPr/>
          <p:nvPr/>
        </p:nvSpPr>
        <p:spPr>
          <a:xfrm>
            <a:off x="6217920" y="141732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lang="es-CO" sz="1100" b="1" i="0" u="none" strike="noStrike" cap="none" noProof="0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lang="es-CO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217920" y="2011680"/>
            <a:ext cx="26517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lang="es-CO" sz="28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lang="es-CO" sz="2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46" name="Google Shape;46;p5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s-CO" sz="26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Proyecto Propuesto</a:t>
            </a:r>
            <a:endParaRPr lang="es-CO" sz="2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lang="es-CO" sz="1800" b="1" i="0" u="none" strike="noStrike" cap="none" noProof="0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Plataforma de Banca Digital</a:t>
            </a: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1600200"/>
            <a:ext cx="80467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s-CO" sz="1600" b="0" i="0" u="none" strike="noStrike" cap="none" noProof="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Registro e inicio de </a:t>
            </a:r>
            <a:r>
              <a:rPr lang="es-CO" sz="1600" b="0" i="0" u="none" strike="noStrike" cap="none" noProof="0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sesion</a:t>
            </a:r>
            <a:r>
              <a:rPr lang="es-CO" sz="1600" b="0" i="0" u="none" strike="noStrike" cap="none" noProof="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 usuarios</a:t>
            </a:r>
            <a:endParaRPr lang="es-CO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s-CO" sz="1600" b="0" i="0" u="none" strike="noStrike" cap="none" noProof="0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Creacion</a:t>
            </a:r>
            <a:r>
              <a:rPr lang="es-CO" sz="1600" b="0" i="0" u="none" strike="noStrike" cap="none" noProof="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CO" sz="1600" b="0" i="0" u="none" strike="noStrike" cap="none" noProof="0" dirty="0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gestion</a:t>
            </a:r>
            <a:r>
              <a:rPr lang="es-CO" sz="1600" b="0" i="0" u="none" strike="noStrike" cap="none" noProof="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 cuentas bancarias</a:t>
            </a:r>
            <a:endParaRPr lang="es-CO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s-CO" sz="1600" b="0" i="0" u="none" strike="noStrike" cap="none" noProof="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Consulta de saldo</a:t>
            </a:r>
            <a:endParaRPr lang="es-CO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s-CO" sz="1600" b="0" i="0" u="none" strike="noStrike" cap="none" noProof="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Transferencias entre usuarios</a:t>
            </a:r>
            <a:endParaRPr lang="es-CO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s-CO" sz="1600" b="0" i="0" u="none" strike="noStrike" cap="none" noProof="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Historial de transacciones</a:t>
            </a:r>
            <a:endParaRPr lang="es-CO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s-CO" sz="1300" b="0" i="1" u="none" strike="noStrike" cap="none" noProof="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Enfoque: seguridad, rapidez y confiabilidad</a:t>
            </a:r>
            <a:endParaRPr lang="es-CO" sz="13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56" name="Google Shape;56;p6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s-CO" sz="26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Justificación de </a:t>
            </a:r>
            <a:r>
              <a:rPr lang="es-CO" sz="2600" b="1" i="0" u="none" strike="noStrike" cap="none" noProof="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Tecnologias</a:t>
            </a:r>
            <a:endParaRPr lang="es-CO" sz="2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EBF5F7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58" name="Google Shape;58;p6"/>
          <p:cNvSpPr/>
          <p:nvPr/>
        </p:nvSpPr>
        <p:spPr>
          <a:xfrm>
            <a:off x="365760" y="1097280"/>
            <a:ext cx="109728" cy="1005840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59" name="Google Shape;59;p6"/>
          <p:cNvSpPr/>
          <p:nvPr/>
        </p:nvSpPr>
        <p:spPr>
          <a:xfrm>
            <a:off x="59436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s-CO" sz="14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Angular</a:t>
            </a:r>
            <a:endParaRPr lang="es-CO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594360" y="1572768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s-CO" sz="1200" b="0" i="0" u="none" strike="noStrike" cap="none" noProof="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Interfaces modulares, escalables y fáciles de mantener.</a:t>
            </a:r>
            <a:endParaRPr lang="es-CO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365760" y="2286000"/>
            <a:ext cx="8412480" cy="10058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62" name="Google Shape;62;p6"/>
          <p:cNvSpPr/>
          <p:nvPr/>
        </p:nvSpPr>
        <p:spPr>
          <a:xfrm>
            <a:off x="365760" y="2286000"/>
            <a:ext cx="109728" cy="1005840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63" name="Google Shape;63;p6"/>
          <p:cNvSpPr/>
          <p:nvPr/>
        </p:nvSpPr>
        <p:spPr>
          <a:xfrm>
            <a:off x="594360" y="2377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s-CO" sz="14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Spring </a:t>
            </a:r>
            <a:r>
              <a:rPr lang="es-CO" sz="1400" b="1" i="0" u="none" strike="noStrike" cap="none" noProof="0" dirty="0" err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Boot</a:t>
            </a:r>
            <a:endParaRPr lang="es-CO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94360" y="2761488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s-CO" sz="1200" b="0" i="0" u="none" strike="noStrike" cap="none" noProof="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Seguridad robusta y manejo de </a:t>
            </a:r>
            <a:r>
              <a:rPr lang="es-CO" sz="1200" b="0" i="0" u="none" strike="noStrike" cap="none" noProof="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logica</a:t>
            </a:r>
            <a:r>
              <a:rPr lang="es-CO" sz="1200" b="0" i="0" u="none" strike="noStrike" cap="none" noProof="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bancaria compleja.</a:t>
            </a:r>
            <a:endParaRPr lang="es-CO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65760" y="3474720"/>
            <a:ext cx="8412480" cy="1005840"/>
          </a:xfrm>
          <a:prstGeom prst="rect">
            <a:avLst/>
          </a:prstGeom>
          <a:solidFill>
            <a:srgbClr val="EBF5F7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66" name="Google Shape;66;p6"/>
          <p:cNvSpPr/>
          <p:nvPr/>
        </p:nvSpPr>
        <p:spPr>
          <a:xfrm>
            <a:off x="365760" y="3474720"/>
            <a:ext cx="109728" cy="1005840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67" name="Google Shape;67;p6"/>
          <p:cNvSpPr/>
          <p:nvPr/>
        </p:nvSpPr>
        <p:spPr>
          <a:xfrm>
            <a:off x="594360" y="3566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s-CO" sz="14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lang="es-CO" sz="14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94360" y="3950208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s-CO" sz="1200" b="0" i="0" u="none" strike="noStrike" cap="none" noProof="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Garantiza integridad de datos con soporte ACID.</a:t>
            </a:r>
            <a:endParaRPr lang="es-CO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75" name="Google Shape;75;p7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s-CO" sz="22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Por que las otras tecnologías no son las mas adecuadas</a:t>
            </a:r>
            <a:endParaRPr lang="es-CO" sz="2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274320" y="1097280"/>
            <a:ext cx="4251960" cy="1143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77" name="Google Shape;77;p7"/>
          <p:cNvSpPr/>
          <p:nvPr/>
        </p:nvSpPr>
        <p:spPr>
          <a:xfrm>
            <a:off x="411480" y="118872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s-CO" sz="12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MongoDB / </a:t>
            </a:r>
            <a:r>
              <a:rPr lang="es-CO" sz="1200" b="1" i="0" u="none" strike="noStrike" cap="none" noProof="0" dirty="0" err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Cassandra</a:t>
            </a:r>
            <a:endParaRPr lang="es-CO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11480" y="1554480"/>
            <a:ext cx="39776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O" sz="11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Sin consistencia total en transacciones criticas.</a:t>
            </a:r>
            <a:endParaRPr lang="es-CO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74320" y="2359152"/>
            <a:ext cx="4251960" cy="1143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80" name="Google Shape;80;p7"/>
          <p:cNvSpPr/>
          <p:nvPr/>
        </p:nvSpPr>
        <p:spPr>
          <a:xfrm>
            <a:off x="411480" y="2450592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s-CO" sz="12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lang="es-CO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11480" y="2816352"/>
            <a:ext cx="39776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O" sz="11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Solo para cache, no apto como BD principal Financiera.</a:t>
            </a:r>
            <a:endParaRPr lang="es-CO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74320" y="3621024"/>
            <a:ext cx="4251960" cy="1143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83" name="Google Shape;83;p7"/>
          <p:cNvSpPr/>
          <p:nvPr/>
        </p:nvSpPr>
        <p:spPr>
          <a:xfrm>
            <a:off x="411480" y="3712464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s-CO" sz="12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Express</a:t>
            </a:r>
            <a:endParaRPr lang="es-CO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11480" y="4078224"/>
            <a:ext cx="39776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O" sz="11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Menor seguridad nativa comparado con Spring </a:t>
            </a:r>
            <a:r>
              <a:rPr lang="es-CO" sz="1100" b="0" i="0" u="none" strike="noStrike" cap="none" noProof="0" dirty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Boot</a:t>
            </a:r>
            <a:r>
              <a:rPr lang="es-CO" sz="11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CO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709160" y="1097280"/>
            <a:ext cx="4251960" cy="1143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86" name="Google Shape;86;p7"/>
          <p:cNvSpPr/>
          <p:nvPr/>
        </p:nvSpPr>
        <p:spPr>
          <a:xfrm>
            <a:off x="4846320" y="118872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s-CO" sz="12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Laravel / Django / </a:t>
            </a:r>
            <a:r>
              <a:rPr lang="es-CO" sz="1200" b="1" i="0" u="none" strike="noStrike" cap="none" noProof="0" dirty="0" err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Rails</a:t>
            </a:r>
            <a:endParaRPr lang="es-CO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846320" y="1554480"/>
            <a:ext cx="39776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O" sz="11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Menos adoptados en banca de gran escala.</a:t>
            </a:r>
            <a:endParaRPr lang="es-CO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709160" y="2359152"/>
            <a:ext cx="4251960" cy="1143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89" name="Google Shape;89;p7"/>
          <p:cNvSpPr/>
          <p:nvPr/>
        </p:nvSpPr>
        <p:spPr>
          <a:xfrm>
            <a:off x="4846320" y="2450592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s-CO" sz="12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HTML/CSS/JS sin </a:t>
            </a:r>
            <a:r>
              <a:rPr lang="es-CO" sz="1200" b="1" i="0" u="none" strike="noStrike" cap="none" noProof="0" dirty="0" err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lang="es-CO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846320" y="2816352"/>
            <a:ext cx="39776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O" sz="1100" b="0" i="0" u="none" strike="noStrike" cap="none" noProof="0" dirty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Inmantenible</a:t>
            </a:r>
            <a:r>
              <a:rPr lang="es-CO" sz="11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CO" sz="1100" b="0" i="0" u="none" strike="noStrike" cap="none" noProof="0" dirty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dificil</a:t>
            </a:r>
            <a:r>
              <a:rPr lang="es-CO" sz="11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de escalar en apps grandes.</a:t>
            </a:r>
            <a:endParaRPr lang="es-CO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709160" y="3621024"/>
            <a:ext cx="4251960" cy="1143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92" name="Google Shape;92;p7"/>
          <p:cNvSpPr/>
          <p:nvPr/>
        </p:nvSpPr>
        <p:spPr>
          <a:xfrm>
            <a:off x="4846320" y="3712464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s-CO" sz="1200" b="1" i="0" u="none" strike="noStrike" cap="none" noProof="0" dirty="0" err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r>
              <a:rPr lang="es-CO" sz="1200" b="1" i="0" u="none" strike="noStrike" cap="none" noProof="0" dirty="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s-CO" sz="1200" b="1" i="0" u="none" strike="noStrike" cap="none" noProof="0" dirty="0" err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Vue</a:t>
            </a:r>
            <a:endParaRPr lang="es-CO" sz="12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846320" y="4078224"/>
            <a:ext cx="39776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s-CO" sz="1100" b="0" i="0" u="none" strike="noStrike" cap="none" noProof="0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Angular da estructura mas completa para proyectos empresariales.</a:t>
            </a:r>
            <a:endParaRPr lang="es-CO" sz="11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100" name="Google Shape;100;p8"/>
          <p:cNvSpPr/>
          <p:nvPr/>
        </p:nvSpPr>
        <p:spPr>
          <a:xfrm>
            <a:off x="411480" y="64008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9396"/>
              </a:buClr>
              <a:buSzPts val="2800"/>
              <a:buFont typeface="Calibri"/>
              <a:buNone/>
            </a:pPr>
            <a:r>
              <a:rPr lang="es-CO" sz="2800" b="1" i="0" u="none" strike="noStrike" cap="none" noProof="0" dirty="0">
                <a:solidFill>
                  <a:srgbClr val="0A9396"/>
                </a:solidFill>
                <a:latin typeface="Calibri"/>
                <a:ea typeface="Calibri"/>
                <a:cs typeface="Calibri"/>
                <a:sym typeface="Calibri"/>
              </a:rPr>
              <a:t>5. Conclusión</a:t>
            </a:r>
            <a:endParaRPr lang="es-CO" sz="2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11480" y="1325880"/>
            <a:ext cx="83210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s-CO" sz="1800" b="0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CO" sz="1800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combinación</a:t>
            </a:r>
            <a:r>
              <a:rPr lang="es-CO" sz="1800" b="0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Angular, Spring </a:t>
            </a:r>
            <a:r>
              <a:rPr lang="es-CO" sz="1800" b="0" i="0" u="none" strike="noStrike" cap="none" noProof="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</a:t>
            </a:r>
            <a:r>
              <a:rPr lang="es-CO" sz="1800" b="0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PostgreSQL garantiza un sistema bancario seguro, escalable y confiable.</a:t>
            </a:r>
            <a:endParaRPr lang="es-CO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411480" y="3474720"/>
            <a:ext cx="2468880" cy="685800"/>
          </a:xfrm>
          <a:prstGeom prst="rect">
            <a:avLst/>
          </a:prstGeom>
          <a:solidFill>
            <a:srgbClr val="0A9396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103" name="Google Shape;103;p8"/>
          <p:cNvSpPr/>
          <p:nvPr/>
        </p:nvSpPr>
        <p:spPr>
          <a:xfrm>
            <a:off x="411480" y="34747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s-CO" sz="16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Angular</a:t>
            </a:r>
            <a:endParaRPr lang="es-CO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3246120" y="3474720"/>
            <a:ext cx="2468880" cy="685800"/>
          </a:xfrm>
          <a:prstGeom prst="rect">
            <a:avLst/>
          </a:prstGeom>
          <a:solidFill>
            <a:srgbClr val="0A7A85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105" name="Google Shape;105;p8"/>
          <p:cNvSpPr/>
          <p:nvPr/>
        </p:nvSpPr>
        <p:spPr>
          <a:xfrm>
            <a:off x="3246120" y="34747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s-CO" sz="16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</a:t>
            </a:r>
            <a:r>
              <a:rPr lang="es-CO" sz="1600" b="1" i="0" u="none" strike="noStrike" cap="none" noProof="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</a:t>
            </a:r>
            <a:endParaRPr lang="es-CO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6080760" y="3474720"/>
            <a:ext cx="2468880" cy="685800"/>
          </a:xfrm>
          <a:prstGeom prst="rect">
            <a:avLst/>
          </a:prstGeom>
          <a:solidFill>
            <a:srgbClr val="076570"/>
          </a:solidFill>
          <a:ln w="12700" cap="flat" cmpd="sng">
            <a:solidFill>
              <a:srgbClr val="0A93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 noProof="0" dirty="0"/>
          </a:p>
        </p:txBody>
      </p:sp>
      <p:sp>
        <p:nvSpPr>
          <p:cNvPr id="107" name="Google Shape;107;p8"/>
          <p:cNvSpPr/>
          <p:nvPr/>
        </p:nvSpPr>
        <p:spPr>
          <a:xfrm>
            <a:off x="6080760" y="34747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s-CO" sz="1600" b="1" i="0" u="none" strike="noStrike" cap="none" noProof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lang="es-CO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Presentación en pantalla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Aprendiz</dc:creator>
  <cp:lastModifiedBy>131_95381012323</cp:lastModifiedBy>
  <cp:revision>1</cp:revision>
  <dcterms:modified xsi:type="dcterms:W3CDTF">2026-04-22T19:58:12Z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2026-04-22T19:49:50Z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135b3429-dcd5-4ee0-b17a-80473f4cf85c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